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432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SkillHive: a peer-to-peer skill exchange and collaborative learning platform for college students, with an admin panel to manage the whole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have skills to share and skills to learn, but no organized way to connect. Institutions also lack a way to oversee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idea: what I know meets what you need. SkillHive serves two roles: students who learn and teach, and admins who manage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eleven student steps. Then explain that the admin monitors and manages all of this activity from the admin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student-facing features; Smart Matching is the core differentiator. The admin panel is covered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logs in through a separate role-based dashboard and manages student accounts, skills, connections, sessions and reviews, and views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feature: reciprocal matching produces a score and the reasons behind it. The stack now includes the PHP admin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and admins both log in; the layers are UI, API, business logic and database. Admin features are bolded.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expected benefits (including admin control), future scope and the conclusion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SKILLHIVE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Peer-to-Peer Skill Exchange and Collaborative Learning Platform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Learn. Share. Grow.</a:t>
            </a:r>
            <a:endParaRPr lang="en-US" sz="1600" dirty="0"/>
          </a:p>
        </p:txBody>
      </p:sp>
      <p:sp>
        <p:nvSpPr>
          <p:cNvPr id="6" name="Presenter"/>
          <p:cNvSpPr/>
          <p:nvPr/>
        </p:nvSpPr>
        <p:spPr>
          <a:xfrm>
            <a:off x="626496" y="2787432"/>
            <a:ext cx="4572000" cy="169164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Accent"/>
          <p:cNvSpPr/>
          <p:nvPr/>
        </p:nvSpPr>
        <p:spPr>
          <a:xfrm>
            <a:off x="640080" y="2788920"/>
            <a:ext cx="64008" cy="16916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3464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          : ABISHAA . R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  : 240701012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: Computer Science and Engineering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         : Rajalakshmi Engineering College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        : Web Programming</a:t>
            </a:r>
            <a:endParaRPr lang="en-US" sz="1400" dirty="0"/>
          </a:p>
        </p:txBody>
      </p:sp>
      <p:sp>
        <p:nvSpPr>
          <p:cNvPr id="9" name="Hex0"/>
          <p:cNvSpPr/>
          <p:nvPr/>
        </p:nvSpPr>
        <p:spPr>
          <a:xfrm>
            <a:off x="6537960" y="2168500"/>
            <a:ext cx="1005840" cy="875081"/>
          </a:xfrm>
          <a:prstGeom prst="hexagon">
            <a:avLst/>
          </a:prstGeom>
          <a:solidFill>
            <a:srgbClr val="F5A80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987" y="2409147"/>
            <a:ext cx="393786" cy="393786"/>
          </a:xfrm>
          <a:prstGeom prst="rect">
            <a:avLst/>
          </a:prstGeom>
        </p:spPr>
      </p:pic>
      <p:sp>
        <p:nvSpPr>
          <p:cNvPr id="11" name="Hex1"/>
          <p:cNvSpPr/>
          <p:nvPr/>
        </p:nvSpPr>
        <p:spPr>
          <a:xfrm>
            <a:off x="6537960" y="1232163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987" y="1472810"/>
            <a:ext cx="393786" cy="393786"/>
          </a:xfrm>
          <a:prstGeom prst="rect">
            <a:avLst/>
          </a:prstGeom>
        </p:spPr>
      </p:pic>
      <p:sp>
        <p:nvSpPr>
          <p:cNvPr id="13" name="Hex2"/>
          <p:cNvSpPr/>
          <p:nvPr/>
        </p:nvSpPr>
        <p:spPr>
          <a:xfrm>
            <a:off x="6537960" y="3104836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987" y="3345483"/>
            <a:ext cx="393786" cy="393786"/>
          </a:xfrm>
          <a:prstGeom prst="rect">
            <a:avLst/>
          </a:prstGeom>
        </p:spPr>
      </p:pic>
      <p:sp>
        <p:nvSpPr>
          <p:cNvPr id="15" name="Hex3"/>
          <p:cNvSpPr/>
          <p:nvPr/>
        </p:nvSpPr>
        <p:spPr>
          <a:xfrm>
            <a:off x="7345147" y="1700331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1173" y="1940979"/>
            <a:ext cx="393786" cy="393786"/>
          </a:xfrm>
          <a:prstGeom prst="rect">
            <a:avLst/>
          </a:prstGeom>
        </p:spPr>
      </p:pic>
      <p:sp>
        <p:nvSpPr>
          <p:cNvPr id="17" name="Hex4"/>
          <p:cNvSpPr/>
          <p:nvPr/>
        </p:nvSpPr>
        <p:spPr>
          <a:xfrm>
            <a:off x="7345147" y="2636668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1173" y="2877315"/>
            <a:ext cx="393786" cy="393786"/>
          </a:xfrm>
          <a:prstGeom prst="rect">
            <a:avLst/>
          </a:prstGeom>
        </p:spPr>
      </p:pic>
      <p:sp>
        <p:nvSpPr>
          <p:cNvPr id="19" name="Hex5"/>
          <p:cNvSpPr/>
          <p:nvPr/>
        </p:nvSpPr>
        <p:spPr>
          <a:xfrm>
            <a:off x="5730773" y="1700331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6800" y="1940979"/>
            <a:ext cx="393786" cy="393786"/>
          </a:xfrm>
          <a:prstGeom prst="rect">
            <a:avLst/>
          </a:prstGeom>
        </p:spPr>
      </p:pic>
      <p:sp>
        <p:nvSpPr>
          <p:cNvPr id="21" name="Hex6"/>
          <p:cNvSpPr/>
          <p:nvPr/>
        </p:nvSpPr>
        <p:spPr>
          <a:xfrm>
            <a:off x="5730773" y="2636668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6800" y="2877315"/>
            <a:ext cx="393786" cy="3937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Intro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Accent"/>
          <p:cNvSpPr/>
          <p:nvPr/>
        </p:nvSpPr>
        <p:spPr>
          <a:xfrm>
            <a:off x="457200" y="1005840"/>
            <a:ext cx="64008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005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 have varied technical and non-technical skills, but there is no organized campus platform to exchange them.</a:t>
            </a:r>
            <a:endParaRPr lang="en-US" sz="1150" dirty="0"/>
          </a:p>
        </p:txBody>
      </p:sp>
      <p:sp>
        <p:nvSpPr>
          <p:cNvPr id="7" name="Problem1"/>
          <p:cNvSpPr/>
          <p:nvPr/>
        </p:nvSpPr>
        <p:spPr>
          <a:xfrm>
            <a:off x="457200" y="1691640"/>
            <a:ext cx="4023360" cy="5943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Accent"/>
          <p:cNvSpPr/>
          <p:nvPr/>
        </p:nvSpPr>
        <p:spPr>
          <a:xfrm>
            <a:off x="457200" y="1691640"/>
            <a:ext cx="64008" cy="594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783080"/>
            <a:ext cx="411480" cy="41148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" y="1885950"/>
            <a:ext cx="205740" cy="2057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70432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peers who can teach the skills you want</a:t>
            </a:r>
            <a:endParaRPr lang="en-US" sz="1100" dirty="0"/>
          </a:p>
        </p:txBody>
      </p:sp>
      <p:sp>
        <p:nvSpPr>
          <p:cNvPr id="12" name="Problem2"/>
          <p:cNvSpPr/>
          <p:nvPr/>
        </p:nvSpPr>
        <p:spPr>
          <a:xfrm>
            <a:off x="4663440" y="1691640"/>
            <a:ext cx="4023360" cy="5943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Accent"/>
          <p:cNvSpPr/>
          <p:nvPr/>
        </p:nvSpPr>
        <p:spPr>
          <a:xfrm>
            <a:off x="4663440" y="1691640"/>
            <a:ext cx="64008" cy="594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28032" y="1783080"/>
            <a:ext cx="411480" cy="41148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902" y="1885950"/>
            <a:ext cx="205740" cy="2057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76672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students have few chances to share knowledge</a:t>
            </a:r>
            <a:endParaRPr lang="en-US" sz="1100" dirty="0"/>
          </a:p>
        </p:txBody>
      </p:sp>
      <p:sp>
        <p:nvSpPr>
          <p:cNvPr id="17" name="Problem3"/>
          <p:cNvSpPr/>
          <p:nvPr/>
        </p:nvSpPr>
        <p:spPr>
          <a:xfrm>
            <a:off x="457200" y="2404872"/>
            <a:ext cx="4023360" cy="5943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Accent"/>
          <p:cNvSpPr/>
          <p:nvPr/>
        </p:nvSpPr>
        <p:spPr>
          <a:xfrm>
            <a:off x="457200" y="2404872"/>
            <a:ext cx="64008" cy="594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" y="2496312"/>
            <a:ext cx="411480" cy="41148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" y="2599182"/>
            <a:ext cx="205740" cy="2057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70432" y="24048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platforms aren't built for structured peer learning</a:t>
            </a:r>
            <a:endParaRPr lang="en-US" sz="1100" dirty="0"/>
          </a:p>
        </p:txBody>
      </p:sp>
      <p:sp>
        <p:nvSpPr>
          <p:cNvPr id="22" name="Problem4"/>
          <p:cNvSpPr/>
          <p:nvPr/>
        </p:nvSpPr>
        <p:spPr>
          <a:xfrm>
            <a:off x="4663440" y="2404872"/>
            <a:ext cx="4023360" cy="5943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Accent"/>
          <p:cNvSpPr/>
          <p:nvPr/>
        </p:nvSpPr>
        <p:spPr>
          <a:xfrm>
            <a:off x="4663440" y="2404872"/>
            <a:ext cx="64008" cy="594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28032" y="2496312"/>
            <a:ext cx="411480" cy="41148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0902" y="2599182"/>
            <a:ext cx="205740" cy="2057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376672" y="24048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learning partners manually is time-consuming</a:t>
            </a:r>
            <a:endParaRPr lang="en-US" sz="1100" dirty="0"/>
          </a:p>
        </p:txBody>
      </p:sp>
      <p:sp>
        <p:nvSpPr>
          <p:cNvPr id="27" name="Problem5"/>
          <p:cNvSpPr/>
          <p:nvPr/>
        </p:nvSpPr>
        <p:spPr>
          <a:xfrm>
            <a:off x="457200" y="3118104"/>
            <a:ext cx="4023360" cy="5943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Accent"/>
          <p:cNvSpPr/>
          <p:nvPr/>
        </p:nvSpPr>
        <p:spPr>
          <a:xfrm>
            <a:off x="457200" y="3118104"/>
            <a:ext cx="64008" cy="594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21792" y="3209544"/>
            <a:ext cx="411480" cy="41148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662" y="3312414"/>
            <a:ext cx="205740" cy="2057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170432" y="31181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connections and progress are hard to manage</a:t>
            </a:r>
            <a:endParaRPr lang="en-US" sz="1100" dirty="0"/>
          </a:p>
        </p:txBody>
      </p:sp>
      <p:sp>
        <p:nvSpPr>
          <p:cNvPr id="32" name="Problem6"/>
          <p:cNvSpPr/>
          <p:nvPr/>
        </p:nvSpPr>
        <p:spPr>
          <a:xfrm>
            <a:off x="4663440" y="3118104"/>
            <a:ext cx="4023360" cy="5943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Accent"/>
          <p:cNvSpPr/>
          <p:nvPr/>
        </p:nvSpPr>
        <p:spPr>
          <a:xfrm>
            <a:off x="4663440" y="3118104"/>
            <a:ext cx="64008" cy="594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828032" y="3209544"/>
            <a:ext cx="411480" cy="41148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0902" y="3312414"/>
            <a:ext cx="205740" cy="2057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376672" y="31181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feedback or recognition for helpful students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1B1E2B"/>
          </a:solidFill>
          <a:ln w="1587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0"/>
          <p:cNvSpPr txBox="1"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skills to share and skills to learn, but lack an intelligent platform that connects the right people.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also have no single place to monitor and manage student learning activity.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SkillHive  |  Learn. Share. Grow.</a:t>
            </a:r>
            <a:endParaRPr lang="en-US" sz="850" dirty="0"/>
          </a:p>
        </p:txBody>
      </p:sp>
      <p:sp>
        <p:nvSpPr>
          <p:cNvPr id="41" name="Text 3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SkillHive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Intro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Accent"/>
          <p:cNvSpPr/>
          <p:nvPr/>
        </p:nvSpPr>
        <p:spPr>
          <a:xfrm>
            <a:off x="457200" y="1005840"/>
            <a:ext cx="64008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005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peer-to-peer learning platform that connects students by the skills they can teach and want to learn, managed through a dedicated admin panel.</a:t>
            </a:r>
            <a:endParaRPr lang="en-US" sz="1100" dirty="0"/>
          </a:p>
        </p:txBody>
      </p:sp>
      <p:sp>
        <p:nvSpPr>
          <p:cNvPr id="7" name="Provides"/>
          <p:cNvSpPr/>
          <p:nvPr/>
        </p:nvSpPr>
        <p:spPr>
          <a:xfrm>
            <a:off x="457200" y="1691640"/>
            <a:ext cx="4114800" cy="269748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Accent"/>
          <p:cNvSpPr/>
          <p:nvPr/>
        </p:nvSpPr>
        <p:spPr>
          <a:xfrm>
            <a:off x="457200" y="1691640"/>
            <a:ext cx="64008" cy="26974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SkillHive Provides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personalized student profile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skills you can teach and want to learn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students with complementary skills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smart partner recommendations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and manage connection requests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peer-learning sessions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learning activities and progress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review after sessions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to manage students and activities</a:t>
            </a:r>
            <a:endParaRPr lang="en-US" sz="1050" dirty="0"/>
          </a:p>
        </p:txBody>
      </p:sp>
      <p:sp>
        <p:nvSpPr>
          <p:cNvPr id="11" name="Concept"/>
          <p:cNvSpPr/>
          <p:nvPr/>
        </p:nvSpPr>
        <p:spPr>
          <a:xfrm>
            <a:off x="4754880" y="1691640"/>
            <a:ext cx="3931920" cy="150876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Accent"/>
          <p:cNvSpPr/>
          <p:nvPr/>
        </p:nvSpPr>
        <p:spPr>
          <a:xfrm>
            <a:off x="4754880" y="1691640"/>
            <a:ext cx="64008" cy="15087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210312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21031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 Know</a:t>
            </a:r>
            <a:endParaRPr lang="en-US" sz="10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185416"/>
            <a:ext cx="219456" cy="21945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086600" y="210312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12141C"/>
          </a:solidFill>
          <a:ln w="15875">
            <a:solidFill>
              <a:srgbClr val="F5A8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86600" y="2103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You Need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83480" y="260604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26060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You Know</a:t>
            </a:r>
            <a:endParaRPr lang="en-US" sz="10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688336"/>
            <a:ext cx="219456" cy="21945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086600" y="260604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12141C"/>
          </a:solidFill>
          <a:ln w="15875">
            <a:solidFill>
              <a:srgbClr val="F5A80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086600" y="2606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 Need</a:t>
            </a:r>
            <a:endParaRPr lang="en-US" sz="1050" dirty="0"/>
          </a:p>
        </p:txBody>
      </p:sp>
      <p:sp>
        <p:nvSpPr>
          <p:cNvPr id="24" name="Role0"/>
          <p:cNvSpPr/>
          <p:nvPr/>
        </p:nvSpPr>
        <p:spPr>
          <a:xfrm>
            <a:off x="4754880" y="3337560"/>
            <a:ext cx="1920240" cy="105156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Accent"/>
          <p:cNvSpPr/>
          <p:nvPr/>
        </p:nvSpPr>
        <p:spPr>
          <a:xfrm>
            <a:off x="4754880" y="3337560"/>
            <a:ext cx="64008" cy="10515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937760" y="3429000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20440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394960" y="3429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493776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teach, connect and track progress</a:t>
            </a:r>
            <a:endParaRPr lang="en-US" sz="950" dirty="0"/>
          </a:p>
        </p:txBody>
      </p:sp>
      <p:sp>
        <p:nvSpPr>
          <p:cNvPr id="30" name="Role1"/>
          <p:cNvSpPr/>
          <p:nvPr/>
        </p:nvSpPr>
        <p:spPr>
          <a:xfrm>
            <a:off x="6766560" y="3337560"/>
            <a:ext cx="1920240" cy="105156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Accent"/>
          <p:cNvSpPr/>
          <p:nvPr/>
        </p:nvSpPr>
        <p:spPr>
          <a:xfrm>
            <a:off x="6766560" y="3337560"/>
            <a:ext cx="64008" cy="10515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949440" y="3429000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520440"/>
            <a:ext cx="182880" cy="18288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406640" y="3429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94944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skills and student activities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SkillHive turns individual student skills into a collaborative learning network.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SkillHive  |  Learn. Share. Grow.</a:t>
            </a:r>
            <a:endParaRPr lang="en-US" sz="850" dirty="0"/>
          </a:p>
        </p:txBody>
      </p:sp>
      <p:sp>
        <p:nvSpPr>
          <p:cNvPr id="38" name="Text 3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SkillHive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Step1"/>
          <p:cNvSpPr/>
          <p:nvPr/>
        </p:nvSpPr>
        <p:spPr>
          <a:xfrm>
            <a:off x="457200" y="10515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087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9" name="Step2"/>
          <p:cNvSpPr/>
          <p:nvPr/>
        </p:nvSpPr>
        <p:spPr>
          <a:xfrm>
            <a:off x="1847088" y="10515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47088" y="10515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12070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38528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15087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</a:t>
            </a:r>
            <a:endParaRPr lang="en-US" sz="1000" dirty="0"/>
          </a:p>
        </p:txBody>
      </p:sp>
      <p:sp>
        <p:nvSpPr>
          <p:cNvPr id="14" name="Step3"/>
          <p:cNvSpPr/>
          <p:nvPr/>
        </p:nvSpPr>
        <p:spPr>
          <a:xfrm>
            <a:off x="3236976" y="10515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10515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28416" y="12070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28416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328416" y="15087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Skills &amp; Goals</a:t>
            </a:r>
            <a:endParaRPr lang="en-US" sz="1000" dirty="0"/>
          </a:p>
        </p:txBody>
      </p:sp>
      <p:sp>
        <p:nvSpPr>
          <p:cNvPr id="19" name="Step4"/>
          <p:cNvSpPr/>
          <p:nvPr/>
        </p:nvSpPr>
        <p:spPr>
          <a:xfrm>
            <a:off x="4626864" y="10515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0515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18304" y="12070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18304" y="15087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000" dirty="0"/>
          </a:p>
        </p:txBody>
      </p:sp>
      <p:sp>
        <p:nvSpPr>
          <p:cNvPr id="24" name="Step5"/>
          <p:cNvSpPr/>
          <p:nvPr/>
        </p:nvSpPr>
        <p:spPr>
          <a:xfrm>
            <a:off x="6016752" y="10515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16752" y="10515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8192" y="12070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08192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08192" y="15087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Matched Partners</a:t>
            </a:r>
            <a:endParaRPr lang="en-US" sz="1000" dirty="0"/>
          </a:p>
        </p:txBody>
      </p:sp>
      <p:sp>
        <p:nvSpPr>
          <p:cNvPr id="29" name="Step6"/>
          <p:cNvSpPr/>
          <p:nvPr/>
        </p:nvSpPr>
        <p:spPr>
          <a:xfrm>
            <a:off x="7406640" y="10515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06640" y="10515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2070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0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15087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</a:t>
            </a:r>
            <a:endParaRPr lang="en-US" sz="1000" dirty="0"/>
          </a:p>
        </p:txBody>
      </p:sp>
      <p:sp>
        <p:nvSpPr>
          <p:cNvPr id="34" name="Step7"/>
          <p:cNvSpPr/>
          <p:nvPr/>
        </p:nvSpPr>
        <p:spPr>
          <a:xfrm>
            <a:off x="457200" y="19659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19659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21214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24231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000" dirty="0"/>
          </a:p>
        </p:txBody>
      </p:sp>
      <p:sp>
        <p:nvSpPr>
          <p:cNvPr id="39" name="Step8"/>
          <p:cNvSpPr/>
          <p:nvPr/>
        </p:nvSpPr>
        <p:spPr>
          <a:xfrm>
            <a:off x="1847088" y="19659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847088" y="19659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38528" y="21214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938528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938528" y="24231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Session</a:t>
            </a:r>
            <a:endParaRPr lang="en-US" sz="1000" dirty="0"/>
          </a:p>
        </p:txBody>
      </p:sp>
      <p:sp>
        <p:nvSpPr>
          <p:cNvPr id="44" name="Step9"/>
          <p:cNvSpPr/>
          <p:nvPr/>
        </p:nvSpPr>
        <p:spPr>
          <a:xfrm>
            <a:off x="3236976" y="19659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36976" y="19659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28416" y="21214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328416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3328416" y="24231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Session</a:t>
            </a:r>
            <a:endParaRPr lang="en-US" sz="1000" dirty="0"/>
          </a:p>
        </p:txBody>
      </p:sp>
      <p:sp>
        <p:nvSpPr>
          <p:cNvPr id="49" name="Step10"/>
          <p:cNvSpPr/>
          <p:nvPr/>
        </p:nvSpPr>
        <p:spPr>
          <a:xfrm>
            <a:off x="4626864" y="1965960"/>
            <a:ext cx="1280160" cy="77724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26864" y="19659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18304" y="212140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18304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4718304" y="24231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Progress</a:t>
            </a:r>
            <a:endParaRPr lang="en-US" sz="1000" dirty="0"/>
          </a:p>
        </p:txBody>
      </p:sp>
      <p:sp>
        <p:nvSpPr>
          <p:cNvPr id="54" name="Step11"/>
          <p:cNvSpPr/>
          <p:nvPr/>
        </p:nvSpPr>
        <p:spPr>
          <a:xfrm>
            <a:off x="6016752" y="1965960"/>
            <a:ext cx="1280160" cy="777240"/>
          </a:xfrm>
          <a:prstGeom prst="rect">
            <a:avLst/>
          </a:prstGeom>
          <a:solidFill>
            <a:srgbClr val="F5A800"/>
          </a:solidFill>
          <a:ln w="952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16752" y="1965960"/>
            <a:ext cx="12801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08192" y="2121408"/>
            <a:ext cx="274320" cy="27432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1B1E2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108192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6108192" y="24231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Review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388352" y="1965960"/>
            <a:ext cx="1298448" cy="777240"/>
          </a:xfrm>
          <a:prstGeom prst="rect">
            <a:avLst/>
          </a:prstGeom>
          <a:solidFill>
            <a:srgbClr val="1B1E2B"/>
          </a:solidFill>
          <a:ln w="1587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103120"/>
            <a:ext cx="365760" cy="365760"/>
          </a:xfrm>
          <a:prstGeom prst="rect">
            <a:avLst/>
          </a:prstGeom>
        </p:spPr>
      </p:pic>
      <p:sp>
        <p:nvSpPr>
          <p:cNvPr id="61" name="Text 58"/>
          <p:cNvSpPr txBox="1"/>
          <p:nvPr/>
        </p:nvSpPr>
        <p:spPr>
          <a:xfrm>
            <a:off x="7388352" y="24871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Complete</a:t>
            </a:r>
            <a:endParaRPr lang="en-US" sz="900" dirty="0"/>
          </a:p>
        </p:txBody>
      </p:sp>
      <p:sp>
        <p:nvSpPr>
          <p:cNvPr id="62" name="Banner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1B1E2B"/>
          </a:solidFill>
          <a:ln w="1587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60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 →  Match  →  Connect  →  Learn  →  Track  →  Review</a:t>
            </a:r>
            <a:endParaRPr lang="en-US" sz="1150" dirty="0"/>
          </a:p>
        </p:txBody>
      </p:sp>
      <p:sp>
        <p:nvSpPr>
          <p:cNvPr id="64" name="AdminOversight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Accent"/>
          <p:cNvSpPr/>
          <p:nvPr/>
        </p:nvSpPr>
        <p:spPr>
          <a:xfrm>
            <a:off x="457200" y="3520440"/>
            <a:ext cx="64008" cy="8686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6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829050"/>
            <a:ext cx="251460" cy="251460"/>
          </a:xfrm>
          <a:prstGeom prst="rect">
            <a:avLst/>
          </a:prstGeom>
        </p:spPr>
      </p:pic>
      <p:sp>
        <p:nvSpPr>
          <p:cNvPr id="68" name="Text 64"/>
          <p:cNvSpPr txBox="1"/>
          <p:nvPr/>
        </p:nvSpPr>
        <p:spPr>
          <a:xfrm>
            <a:off x="1645920" y="3566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 at Every Stage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 in separately to monitor registrations, connections, sessions, progress and reviews, and to manage student activities across the platform.</a:t>
            </a:r>
            <a:endParaRPr lang="en-US" sz="1200" dirty="0"/>
          </a:p>
        </p:txBody>
      </p:sp>
      <p:sp>
        <p:nvSpPr>
          <p:cNvPr id="69" name="Text 65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SkillHive  |  Learn. Share. Grow.</a:t>
            </a:r>
            <a:endParaRPr lang="en-US" sz="850" dirty="0"/>
          </a:p>
        </p:txBody>
      </p:sp>
      <p:sp>
        <p:nvSpPr>
          <p:cNvPr id="70" name="Text 6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468880" cy="2880360"/>
          </a:xfrm>
          <a:prstGeom prst="rect">
            <a:avLst/>
          </a:prstGeom>
          <a:solidFill>
            <a:srgbClr val="1B1E2B"/>
          </a:solidFill>
          <a:ln w="19050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468880" cy="64008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4688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students with complementary skills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compatibility scores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reasons for every recommendation</a:t>
            </a:r>
            <a:endParaRPr lang="en-US" sz="1050" dirty="0"/>
          </a:p>
        </p:txBody>
      </p:sp>
      <p:sp>
        <p:nvSpPr>
          <p:cNvPr id="10" name="Feature1"/>
          <p:cNvSpPr/>
          <p:nvPr/>
        </p:nvSpPr>
        <p:spPr>
          <a:xfrm>
            <a:off x="3108960" y="1005840"/>
            <a:ext cx="2697480" cy="86868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Accent"/>
          <p:cNvSpPr/>
          <p:nvPr/>
        </p:nvSpPr>
        <p:spPr>
          <a:xfrm>
            <a:off x="3108960" y="1005840"/>
            <a:ext cx="64008" cy="8686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115568"/>
            <a:ext cx="365760" cy="36576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20700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30752" y="1060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Profile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3730752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academic details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proficiency levels</a:t>
            </a:r>
            <a:endParaRPr lang="en-US" sz="950" dirty="0"/>
          </a:p>
        </p:txBody>
      </p:sp>
      <p:sp>
        <p:nvSpPr>
          <p:cNvPr id="16" name="Feature2"/>
          <p:cNvSpPr/>
          <p:nvPr/>
        </p:nvSpPr>
        <p:spPr>
          <a:xfrm>
            <a:off x="5916168" y="1005840"/>
            <a:ext cx="2697480" cy="86868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Accent"/>
          <p:cNvSpPr/>
          <p:nvPr/>
        </p:nvSpPr>
        <p:spPr>
          <a:xfrm>
            <a:off x="5916168" y="1005840"/>
            <a:ext cx="64008" cy="8686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71616" y="1115568"/>
            <a:ext cx="365760" cy="36576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207008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37960" y="1060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Goals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537960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 teach and to learn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&amp; learning priorities</a:t>
            </a:r>
            <a:endParaRPr lang="en-US" sz="950" dirty="0"/>
          </a:p>
        </p:txBody>
      </p:sp>
      <p:sp>
        <p:nvSpPr>
          <p:cNvPr id="22" name="Feature3"/>
          <p:cNvSpPr/>
          <p:nvPr/>
        </p:nvSpPr>
        <p:spPr>
          <a:xfrm>
            <a:off x="3108960" y="1984248"/>
            <a:ext cx="2697480" cy="86868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Accent"/>
          <p:cNvSpPr/>
          <p:nvPr/>
        </p:nvSpPr>
        <p:spPr>
          <a:xfrm>
            <a:off x="3108960" y="1984248"/>
            <a:ext cx="64008" cy="8686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64408" y="2093976"/>
            <a:ext cx="365760" cy="36576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185416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730752" y="2039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Discovery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3730752" y="2331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students by skills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suitable partners</a:t>
            </a:r>
            <a:endParaRPr lang="en-US" sz="950" dirty="0"/>
          </a:p>
        </p:txBody>
      </p:sp>
      <p:sp>
        <p:nvSpPr>
          <p:cNvPr id="28" name="Feature4"/>
          <p:cNvSpPr/>
          <p:nvPr/>
        </p:nvSpPr>
        <p:spPr>
          <a:xfrm>
            <a:off x="5916168" y="1984248"/>
            <a:ext cx="2697480" cy="86868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Accent"/>
          <p:cNvSpPr/>
          <p:nvPr/>
        </p:nvSpPr>
        <p:spPr>
          <a:xfrm>
            <a:off x="5916168" y="1984248"/>
            <a:ext cx="64008" cy="8686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071616" y="2093976"/>
            <a:ext cx="365760" cy="36576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185416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537960" y="2039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Connections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6537960" y="2331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 manage requests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partnerships</a:t>
            </a:r>
            <a:endParaRPr lang="en-US" sz="950" dirty="0"/>
          </a:p>
        </p:txBody>
      </p:sp>
      <p:sp>
        <p:nvSpPr>
          <p:cNvPr id="34" name="Feature5"/>
          <p:cNvSpPr/>
          <p:nvPr/>
        </p:nvSpPr>
        <p:spPr>
          <a:xfrm>
            <a:off x="3108960" y="2962656"/>
            <a:ext cx="2697480" cy="86868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Accent"/>
          <p:cNvSpPr/>
          <p:nvPr/>
        </p:nvSpPr>
        <p:spPr>
          <a:xfrm>
            <a:off x="3108960" y="2962656"/>
            <a:ext cx="64008" cy="8686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264408" y="3072384"/>
            <a:ext cx="365760" cy="36576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3163824"/>
            <a:ext cx="182880" cy="18288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730752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Sessions</a:t>
            </a:r>
            <a:endParaRPr lang="en-US" sz="1150" dirty="0"/>
          </a:p>
        </p:txBody>
      </p:sp>
      <p:sp>
        <p:nvSpPr>
          <p:cNvPr id="39" name="Text 31"/>
          <p:cNvSpPr txBox="1"/>
          <p:nvPr/>
        </p:nvSpPr>
        <p:spPr>
          <a:xfrm>
            <a:off x="3730752" y="33101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manage sessions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completed activities</a:t>
            </a:r>
            <a:endParaRPr lang="en-US" sz="950" dirty="0"/>
          </a:p>
        </p:txBody>
      </p:sp>
      <p:sp>
        <p:nvSpPr>
          <p:cNvPr id="40" name="Feature6"/>
          <p:cNvSpPr/>
          <p:nvPr/>
        </p:nvSpPr>
        <p:spPr>
          <a:xfrm>
            <a:off x="5916168" y="2962656"/>
            <a:ext cx="2697480" cy="86868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Accent"/>
          <p:cNvSpPr/>
          <p:nvPr/>
        </p:nvSpPr>
        <p:spPr>
          <a:xfrm>
            <a:off x="5916168" y="2962656"/>
            <a:ext cx="64008" cy="8686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071616" y="3072384"/>
            <a:ext cx="365760" cy="365760"/>
          </a:xfrm>
          <a:prstGeom prst="ellipse">
            <a:avLst/>
          </a:prstGeom>
          <a:solidFill>
            <a:srgbClr val="1B1E2B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3056" y="3163824"/>
            <a:ext cx="182880" cy="18288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5379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&amp; Reviews</a:t>
            </a:r>
            <a:endParaRPr lang="en-US" sz="1150" dirty="0"/>
          </a:p>
        </p:txBody>
      </p:sp>
      <p:sp>
        <p:nvSpPr>
          <p:cNvPr id="45" name="Text 36"/>
          <p:cNvSpPr txBox="1"/>
          <p:nvPr/>
        </p:nvSpPr>
        <p:spPr>
          <a:xfrm>
            <a:off x="6537960" y="33101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learning progress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partners &amp; give reviews</a:t>
            </a:r>
            <a:endParaRPr lang="en-US" sz="950" dirty="0"/>
          </a:p>
        </p:txBody>
      </p:sp>
      <p:sp>
        <p:nvSpPr>
          <p:cNvPr id="49" name="Text 3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SkillHive  |  Learn. Share. Grow.</a:t>
            </a:r>
            <a:endParaRPr lang="en-US" sz="850" dirty="0"/>
          </a:p>
        </p:txBody>
      </p:sp>
      <p:sp>
        <p:nvSpPr>
          <p:cNvPr id="50" name="Text 4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Panel: Manage &amp; Monitor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468880" cy="33375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control over student activities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role-based dashboard where the admin keeps the learning community active, safe and well organized.</a:t>
            </a:r>
            <a:endParaRPr lang="en-US" sz="1050" dirty="0"/>
          </a:p>
        </p:txBody>
      </p:sp>
      <p:sp>
        <p:nvSpPr>
          <p:cNvPr id="9" name="Admin1"/>
          <p:cNvSpPr/>
          <p:nvPr/>
        </p:nvSpPr>
        <p:spPr>
          <a:xfrm>
            <a:off x="3108960" y="1005840"/>
            <a:ext cx="2697480" cy="100584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Accent"/>
          <p:cNvSpPr/>
          <p:nvPr/>
        </p:nvSpPr>
        <p:spPr>
          <a:xfrm>
            <a:off x="3108960" y="1005840"/>
            <a:ext cx="64008" cy="10058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4408" y="1115568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20700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30752" y="1078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29184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add, edit or deactivate student accounts</a:t>
            </a:r>
            <a:endParaRPr lang="en-US" sz="1000" dirty="0"/>
          </a:p>
        </p:txBody>
      </p:sp>
      <p:sp>
        <p:nvSpPr>
          <p:cNvPr id="15" name="Admin2"/>
          <p:cNvSpPr/>
          <p:nvPr/>
        </p:nvSpPr>
        <p:spPr>
          <a:xfrm>
            <a:off x="5916168" y="1005840"/>
            <a:ext cx="2697480" cy="100584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Accent"/>
          <p:cNvSpPr/>
          <p:nvPr/>
        </p:nvSpPr>
        <p:spPr>
          <a:xfrm>
            <a:off x="5916168" y="1005840"/>
            <a:ext cx="64008" cy="10058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115568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20700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37960" y="1078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Management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099048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skill categories and listed skills</a:t>
            </a:r>
            <a:endParaRPr lang="en-US" sz="1000" dirty="0"/>
          </a:p>
        </p:txBody>
      </p:sp>
      <p:sp>
        <p:nvSpPr>
          <p:cNvPr id="21" name="Admin3"/>
          <p:cNvSpPr/>
          <p:nvPr/>
        </p:nvSpPr>
        <p:spPr>
          <a:xfrm>
            <a:off x="3108960" y="2130552"/>
            <a:ext cx="2697480" cy="100584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Accent"/>
          <p:cNvSpPr/>
          <p:nvPr/>
        </p:nvSpPr>
        <p:spPr>
          <a:xfrm>
            <a:off x="3108960" y="2130552"/>
            <a:ext cx="64008" cy="10058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264408" y="2240280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33172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730752" y="22037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Monitoring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3291840" y="2633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requests, accepted and rejected partnerships</a:t>
            </a:r>
            <a:endParaRPr lang="en-US" sz="1000" dirty="0"/>
          </a:p>
        </p:txBody>
      </p:sp>
      <p:sp>
        <p:nvSpPr>
          <p:cNvPr id="27" name="Admin4"/>
          <p:cNvSpPr/>
          <p:nvPr/>
        </p:nvSpPr>
        <p:spPr>
          <a:xfrm>
            <a:off x="5916168" y="2130552"/>
            <a:ext cx="2697480" cy="100584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Accent"/>
          <p:cNvSpPr/>
          <p:nvPr/>
        </p:nvSpPr>
        <p:spPr>
          <a:xfrm>
            <a:off x="5916168" y="2130552"/>
            <a:ext cx="64008" cy="10058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71616" y="2240280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33172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537960" y="22037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Oversight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6099048" y="2633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scheduled, completed and cancelled sessions</a:t>
            </a:r>
            <a:endParaRPr lang="en-US" sz="1000" dirty="0"/>
          </a:p>
        </p:txBody>
      </p:sp>
      <p:sp>
        <p:nvSpPr>
          <p:cNvPr id="33" name="Admin5"/>
          <p:cNvSpPr/>
          <p:nvPr/>
        </p:nvSpPr>
        <p:spPr>
          <a:xfrm>
            <a:off x="3108960" y="3255264"/>
            <a:ext cx="2697480" cy="100584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Accent"/>
          <p:cNvSpPr/>
          <p:nvPr/>
        </p:nvSpPr>
        <p:spPr>
          <a:xfrm>
            <a:off x="3108960" y="3255264"/>
            <a:ext cx="64008" cy="10058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264408" y="3364992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3456432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730752" y="3328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Moderation</a:t>
            </a:r>
            <a:endParaRPr lang="en-US" sz="1150" dirty="0"/>
          </a:p>
        </p:txBody>
      </p:sp>
      <p:sp>
        <p:nvSpPr>
          <p:cNvPr id="38" name="Text 30"/>
          <p:cNvSpPr txBox="1"/>
          <p:nvPr/>
        </p:nvSpPr>
        <p:spPr>
          <a:xfrm>
            <a:off x="3291840" y="37581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ratings and remove inappropriate feedback</a:t>
            </a:r>
            <a:endParaRPr lang="en-US" sz="1000" dirty="0"/>
          </a:p>
        </p:txBody>
      </p:sp>
      <p:sp>
        <p:nvSpPr>
          <p:cNvPr id="39" name="Admin6"/>
          <p:cNvSpPr/>
          <p:nvPr/>
        </p:nvSpPr>
        <p:spPr>
          <a:xfrm>
            <a:off x="5916168" y="3255264"/>
            <a:ext cx="2697480" cy="100584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Accent"/>
          <p:cNvSpPr/>
          <p:nvPr/>
        </p:nvSpPr>
        <p:spPr>
          <a:xfrm>
            <a:off x="5916168" y="3255264"/>
            <a:ext cx="64008" cy="10058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071616" y="3364992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3056" y="3456432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537960" y="3328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1150" dirty="0"/>
          </a:p>
        </p:txBody>
      </p:sp>
      <p:sp>
        <p:nvSpPr>
          <p:cNvPr id="44" name="Text 35"/>
          <p:cNvSpPr txBox="1"/>
          <p:nvPr/>
        </p:nvSpPr>
        <p:spPr>
          <a:xfrm>
            <a:off x="6099048" y="37581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stats on users, sessions and progress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SkillHive  |  Learn. Share. Grow.</a:t>
            </a:r>
            <a:endParaRPr lang="en-US" sz="850" dirty="0"/>
          </a:p>
        </p:txBody>
      </p:sp>
      <p:sp>
        <p:nvSpPr>
          <p:cNvPr id="46" name="Text 3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Skill Matching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StudentA"/>
          <p:cNvSpPr/>
          <p:nvPr/>
        </p:nvSpPr>
        <p:spPr>
          <a:xfrm>
            <a:off x="457200" y="1005840"/>
            <a:ext cx="2240280" cy="86868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Accent"/>
          <p:cNvSpPr/>
          <p:nvPr/>
        </p:nvSpPr>
        <p:spPr>
          <a:xfrm>
            <a:off x="457200" y="1005840"/>
            <a:ext cx="64008" cy="8686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097280"/>
            <a:ext cx="320040" cy="32004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" y="1177290"/>
            <a:ext cx="160020" cy="1600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1097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444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Teaches: Java, Python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React, Node.js</a:t>
            </a:r>
            <a:endParaRPr lang="en-US" sz="950" dirty="0"/>
          </a:p>
        </p:txBody>
      </p:sp>
      <p:sp>
        <p:nvSpPr>
          <p:cNvPr id="10" name="StudentB"/>
          <p:cNvSpPr/>
          <p:nvPr/>
        </p:nvSpPr>
        <p:spPr>
          <a:xfrm>
            <a:off x="2926080" y="1005840"/>
            <a:ext cx="2240280" cy="86868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Accent"/>
          <p:cNvSpPr/>
          <p:nvPr/>
        </p:nvSpPr>
        <p:spPr>
          <a:xfrm>
            <a:off x="2926080" y="1005840"/>
            <a:ext cx="64008" cy="8686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90672" y="1097280"/>
            <a:ext cx="320040" cy="32004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682" y="1177290"/>
            <a:ext cx="160020" cy="1600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1097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B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3108960" y="1444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Teaches: React, Node.js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Java, Python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325880"/>
            <a:ext cx="228600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57200" y="2011680"/>
            <a:ext cx="4709160" cy="347472"/>
          </a:xfrm>
          <a:prstGeom prst="roundRect">
            <a:avLst>
              <a:gd name="adj" fmla="val 21053"/>
            </a:avLst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57200" y="20116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Compatible Learning Partners</a:t>
            </a:r>
            <a:endParaRPr lang="en-US" sz="1150" dirty="0"/>
          </a:p>
        </p:txBody>
      </p:sp>
      <p:sp>
        <p:nvSpPr>
          <p:cNvPr id="19" name="Score"/>
          <p:cNvSpPr/>
          <p:nvPr/>
        </p:nvSpPr>
        <p:spPr>
          <a:xfrm>
            <a:off x="457200" y="2514600"/>
            <a:ext cx="4709160" cy="187452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Accent"/>
          <p:cNvSpPr/>
          <p:nvPr/>
        </p:nvSpPr>
        <p:spPr>
          <a:xfrm>
            <a:off x="457200" y="2514600"/>
            <a:ext cx="64008" cy="18745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68580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2514600" y="2606040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teach Java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to learn Java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teach React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learn React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availability overlaps</a:t>
            </a:r>
            <a:endParaRPr lang="en-US" sz="1050" dirty="0"/>
          </a:p>
        </p:txBody>
      </p:sp>
      <p:sp>
        <p:nvSpPr>
          <p:cNvPr id="24" name="Stack"/>
          <p:cNvSpPr/>
          <p:nvPr/>
        </p:nvSpPr>
        <p:spPr>
          <a:xfrm>
            <a:off x="5349240" y="1005840"/>
            <a:ext cx="3337560" cy="338328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Accent"/>
          <p:cNvSpPr/>
          <p:nvPr/>
        </p:nvSpPr>
        <p:spPr>
          <a:xfrm>
            <a:off x="5349240" y="1005840"/>
            <a:ext cx="64008" cy="338328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57784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577840" y="1508760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5778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5989320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C9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577840" y="1993392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57784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5989320" y="1947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C9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577840" y="2478024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577840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5989320" y="24323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C9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577840" y="2962656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57784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5989320" y="29169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C9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dashboard with role-based login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5577840" y="3447288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57784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6"/>
          <p:cNvSpPr txBox="1"/>
          <p:nvPr/>
        </p:nvSpPr>
        <p:spPr>
          <a:xfrm>
            <a:off x="5989320" y="3401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C9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(Apache), VS Code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5577840" y="3931920"/>
            <a:ext cx="274320" cy="2743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55778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4" name="Text 39"/>
          <p:cNvSpPr txBox="1"/>
          <p:nvPr/>
        </p:nvSpPr>
        <p:spPr>
          <a:xfrm>
            <a:off x="5989320" y="3886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C9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InfinityFree (free hosting)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SkillHive  |  Learn. Share. Grow.</a:t>
            </a:r>
            <a:endParaRPr lang="en-US" sz="850" dirty="0"/>
          </a:p>
        </p:txBody>
      </p:sp>
      <p:sp>
        <p:nvSpPr>
          <p:cNvPr id="46" name="Text 4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572768" cy="365760"/>
          </a:xfrm>
          <a:prstGeom prst="rect">
            <a:avLst/>
          </a:prstGeom>
          <a:solidFill>
            <a:srgbClr val="1B1E2B"/>
          </a:solidFill>
          <a:ln w="1587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572768" cy="24231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572768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691640"/>
            <a:ext cx="731520" cy="640080"/>
          </a:xfrm>
          <a:prstGeom prst="hexagon">
            <a:avLst/>
          </a:prstGeom>
          <a:solidFill>
            <a:srgbClr val="F5A800"/>
          </a:solidFill>
          <a:ln w="12700">
            <a:solidFill>
              <a:srgbClr val="1B1E2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84708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350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77824" y="2788920"/>
            <a:ext cx="731520" cy="640080"/>
          </a:xfrm>
          <a:prstGeom prst="hexagon">
            <a:avLst/>
          </a:prstGeom>
          <a:solidFill>
            <a:srgbClr val="F5A800"/>
          </a:solidFill>
          <a:ln w="12700">
            <a:solidFill>
              <a:srgbClr val="1B1E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9443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" y="344728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139696" y="1005840"/>
            <a:ext cx="1572768" cy="365760"/>
          </a:xfrm>
          <a:prstGeom prst="rect">
            <a:avLst/>
          </a:prstGeom>
          <a:solidFill>
            <a:srgbClr val="1B1E2B"/>
          </a:solidFill>
          <a:ln w="1587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2139696" y="10058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SkillHive UI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139696" y="1463040"/>
            <a:ext cx="1572768" cy="24231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139696" y="1463040"/>
            <a:ext cx="1572768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249424" y="1600200"/>
            <a:ext cx="1389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822192" y="1005840"/>
            <a:ext cx="1572768" cy="365760"/>
          </a:xfrm>
          <a:prstGeom prst="rect">
            <a:avLst/>
          </a:prstGeom>
          <a:solidFill>
            <a:srgbClr val="1B1E2B"/>
          </a:solidFill>
          <a:ln w="1587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3822192" y="10058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822192" y="1463040"/>
            <a:ext cx="1572768" cy="24231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2192" y="1463040"/>
            <a:ext cx="1572768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931920" y="1600200"/>
            <a:ext cx="1389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Management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504688" y="1005840"/>
            <a:ext cx="1572768" cy="365760"/>
          </a:xfrm>
          <a:prstGeom prst="rect">
            <a:avLst/>
          </a:prstGeom>
          <a:solidFill>
            <a:srgbClr val="1B1E2B"/>
          </a:solidFill>
          <a:ln w="1587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5504688" y="10058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504688" y="1463040"/>
            <a:ext cx="1572768" cy="24231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504688" y="1463040"/>
            <a:ext cx="1572768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614416" y="1600200"/>
            <a:ext cx="1389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Calculation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Reviews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Monitoring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187184" y="1005840"/>
            <a:ext cx="1572768" cy="365760"/>
          </a:xfrm>
          <a:prstGeom prst="rect">
            <a:avLst/>
          </a:prstGeom>
          <a:solidFill>
            <a:srgbClr val="1B1E2B"/>
          </a:solidFill>
          <a:ln w="1587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7187184" y="10058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187184" y="1463040"/>
            <a:ext cx="1572768" cy="2423160"/>
          </a:xfrm>
          <a:prstGeom prst="rect">
            <a:avLst/>
          </a:prstGeom>
          <a:solidFill>
            <a:srgbClr val="F3F4F8"/>
          </a:solidFill>
          <a:ln w="9525">
            <a:solidFill>
              <a:srgbClr val="E1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7187184" y="1463040"/>
            <a:ext cx="1572768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296912" y="1600200"/>
            <a:ext cx="1389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950" dirty="0"/>
          </a:p>
        </p:txBody>
      </p:sp>
      <p:sp>
        <p:nvSpPr>
          <p:cNvPr id="34" name="Banner"/>
          <p:cNvSpPr/>
          <p:nvPr/>
        </p:nvSpPr>
        <p:spPr>
          <a:xfrm>
            <a:off x="457200" y="4023360"/>
            <a:ext cx="8229600" cy="566928"/>
          </a:xfrm>
          <a:prstGeom prst="rect">
            <a:avLst/>
          </a:prstGeom>
          <a:solidFill>
            <a:srgbClr val="1B1E2B"/>
          </a:solidFill>
          <a:ln w="15875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640080" y="40233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data entities:  Users  →  Skills  →  Learning Goals  →  Connections  →  Sessions  →  Reviews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D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interface, application logic, matching and data management for a maintainable system.</a:t>
            </a:r>
            <a:endParaRPr lang="en-US" sz="1150" dirty="0"/>
          </a:p>
        </p:txBody>
      </p:sp>
      <p:sp>
        <p:nvSpPr>
          <p:cNvPr id="36" name="Text 3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SkillHive  |  Learn. Share. Grow.</a:t>
            </a:r>
            <a:endParaRPr lang="en-US" sz="8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&amp; 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Expected Benefits"/>
          <p:cNvSpPr/>
          <p:nvPr/>
        </p:nvSpPr>
        <p:spPr>
          <a:xfrm>
            <a:off x="457200" y="1005840"/>
            <a:ext cx="4023360" cy="301752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Accent"/>
          <p:cNvSpPr/>
          <p:nvPr/>
        </p:nvSpPr>
        <p:spPr>
          <a:xfrm>
            <a:off x="457200" y="1005840"/>
            <a:ext cx="64008" cy="30175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9616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87552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skill discovery for students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1051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1755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students with suitable partners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2140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87552" y="20665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knowledge sharing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230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8755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structured learning sessions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43200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87552" y="26883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track learning activities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4096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987552" y="29992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technical and non-technical skills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987552" y="33101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collaborative student community</a:t>
            </a:r>
            <a:endParaRPr lang="en-US" sz="10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75888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987552" y="3621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admin full control over student activities</a:t>
            </a:r>
            <a:endParaRPr lang="en-US" sz="1050" dirty="0"/>
          </a:p>
        </p:txBody>
      </p:sp>
      <p:sp>
        <p:nvSpPr>
          <p:cNvPr id="23" name="Future Enhancements"/>
          <p:cNvSpPr/>
          <p:nvPr/>
        </p:nvSpPr>
        <p:spPr>
          <a:xfrm>
            <a:off x="4663440" y="1005840"/>
            <a:ext cx="4023360" cy="3017520"/>
          </a:xfrm>
          <a:prstGeom prst="rect">
            <a:avLst/>
          </a:prstGeom>
          <a:solidFill>
            <a:srgbClr val="1E2230"/>
          </a:solidFill>
          <a:ln w="9525">
            <a:solidFill>
              <a:srgbClr val="2E344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Accent"/>
          <p:cNvSpPr/>
          <p:nvPr/>
        </p:nvSpPr>
        <p:spPr>
          <a:xfrm>
            <a:off x="4663440" y="1005840"/>
            <a:ext cx="64008" cy="30175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5" name="Text 15"/>
          <p:cNvSpPr txBox="1"/>
          <p:nvPr/>
        </p:nvSpPr>
        <p:spPr>
          <a:xfrm>
            <a:off x="48920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3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99616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5193792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recommendations</a:t>
            </a:r>
            <a:endParaRPr lang="en-US" sz="10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810512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5193792" y="1755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student communication</a:t>
            </a:r>
            <a:endParaRPr lang="en-US" sz="105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21408"/>
            <a:ext cx="182880" cy="18288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5193792" y="20665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Skill-based badges &amp; achievements</a:t>
            </a:r>
            <a:endParaRPr lang="en-US" sz="105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32304"/>
            <a:ext cx="182880" cy="182880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9379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learning analytics</a:t>
            </a:r>
            <a:endParaRPr lang="en-US" sz="105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43200"/>
            <a:ext cx="182880" cy="182880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5193792" y="26883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integration</a:t>
            </a:r>
            <a:endParaRPr lang="en-US" sz="105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54096"/>
            <a:ext cx="182880" cy="182880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5193792" y="29992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05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364992"/>
            <a:ext cx="182880" cy="182880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5193792" y="33101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completion certificates</a:t>
            </a:r>
            <a:endParaRPr lang="en-US" sz="105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75888"/>
            <a:ext cx="182880" cy="182880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5193792" y="3621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admin reports &amp; alerts</a:t>
            </a:r>
            <a:endParaRPr lang="en-US" sz="1050" dirty="0"/>
          </a:p>
        </p:txBody>
      </p:sp>
      <p:sp>
        <p:nvSpPr>
          <p:cNvPr id="42" name="Shape 24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2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“SkillHive transforms a campus into a community where students learn from each other, share their expertise, and grow together.”</a:t>
            </a:r>
            <a:endParaRPr lang="en-US" sz="1050" dirty="0"/>
          </a:p>
        </p:txBody>
      </p:sp>
      <p:sp>
        <p:nvSpPr>
          <p:cNvPr id="44" name="Text 26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SkillHive  |  Learn. Share. Grow.</a:t>
            </a:r>
            <a:endParaRPr lang="en-US" sz="850" dirty="0"/>
          </a:p>
        </p:txBody>
      </p:sp>
      <p:sp>
        <p:nvSpPr>
          <p:cNvPr id="45" name="Text 2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822960" cy="54864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Learn. Share. Grow.</a:t>
            </a:r>
            <a:endParaRPr lang="en-US" sz="1800" dirty="0"/>
          </a:p>
        </p:txBody>
      </p:sp>
      <p:sp>
        <p:nvSpPr>
          <p:cNvPr id="9" name="Hex0"/>
          <p:cNvSpPr/>
          <p:nvPr/>
        </p:nvSpPr>
        <p:spPr>
          <a:xfrm>
            <a:off x="6537960" y="2168500"/>
            <a:ext cx="1005840" cy="875081"/>
          </a:xfrm>
          <a:prstGeom prst="hexagon">
            <a:avLst/>
          </a:prstGeom>
          <a:solidFill>
            <a:srgbClr val="F5A80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987" y="2409147"/>
            <a:ext cx="393786" cy="393786"/>
          </a:xfrm>
          <a:prstGeom prst="rect">
            <a:avLst/>
          </a:prstGeom>
        </p:spPr>
      </p:pic>
      <p:sp>
        <p:nvSpPr>
          <p:cNvPr id="11" name="Hex1"/>
          <p:cNvSpPr/>
          <p:nvPr/>
        </p:nvSpPr>
        <p:spPr>
          <a:xfrm>
            <a:off x="6537960" y="1232163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987" y="1472810"/>
            <a:ext cx="393786" cy="393786"/>
          </a:xfrm>
          <a:prstGeom prst="rect">
            <a:avLst/>
          </a:prstGeom>
        </p:spPr>
      </p:pic>
      <p:sp>
        <p:nvSpPr>
          <p:cNvPr id="13" name="Hex2"/>
          <p:cNvSpPr/>
          <p:nvPr/>
        </p:nvSpPr>
        <p:spPr>
          <a:xfrm>
            <a:off x="6537960" y="3104836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987" y="3345483"/>
            <a:ext cx="393786" cy="393786"/>
          </a:xfrm>
          <a:prstGeom prst="rect">
            <a:avLst/>
          </a:prstGeom>
        </p:spPr>
      </p:pic>
      <p:sp>
        <p:nvSpPr>
          <p:cNvPr id="15" name="Hex3"/>
          <p:cNvSpPr/>
          <p:nvPr/>
        </p:nvSpPr>
        <p:spPr>
          <a:xfrm>
            <a:off x="7345147" y="1700331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1173" y="1940979"/>
            <a:ext cx="393786" cy="393786"/>
          </a:xfrm>
          <a:prstGeom prst="rect">
            <a:avLst/>
          </a:prstGeom>
        </p:spPr>
      </p:pic>
      <p:sp>
        <p:nvSpPr>
          <p:cNvPr id="17" name="Hex4"/>
          <p:cNvSpPr/>
          <p:nvPr/>
        </p:nvSpPr>
        <p:spPr>
          <a:xfrm>
            <a:off x="7345147" y="2636668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1173" y="2877315"/>
            <a:ext cx="393786" cy="393786"/>
          </a:xfrm>
          <a:prstGeom prst="rect">
            <a:avLst/>
          </a:prstGeom>
        </p:spPr>
      </p:pic>
      <p:sp>
        <p:nvSpPr>
          <p:cNvPr id="19" name="Hex5"/>
          <p:cNvSpPr/>
          <p:nvPr/>
        </p:nvSpPr>
        <p:spPr>
          <a:xfrm>
            <a:off x="5730773" y="1700331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6800" y="1940979"/>
            <a:ext cx="393786" cy="393786"/>
          </a:xfrm>
          <a:prstGeom prst="rect">
            <a:avLst/>
          </a:prstGeom>
        </p:spPr>
      </p:pic>
      <p:sp>
        <p:nvSpPr>
          <p:cNvPr id="21" name="Hex6"/>
          <p:cNvSpPr/>
          <p:nvPr/>
        </p:nvSpPr>
        <p:spPr>
          <a:xfrm>
            <a:off x="5730773" y="2636668"/>
            <a:ext cx="1005840" cy="875081"/>
          </a:xfrm>
          <a:prstGeom prst="hexagon">
            <a:avLst/>
          </a:prstGeom>
          <a:solidFill>
            <a:srgbClr val="1E2230"/>
          </a:solidFill>
          <a:ln w="19050">
            <a:solidFill>
              <a:srgbClr val="F5A800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6800" y="2877315"/>
            <a:ext cx="393786" cy="3937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1102</Words>
  <Application>Microsoft Office PowerPoint</Application>
  <PresentationFormat>On-screen Show (16:9)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SkillHive</dc:title>
  <dc:subject>PptxGenJS Presentation</dc:subject>
  <dc:creator>SkillHive</dc:creator>
  <cp:lastModifiedBy>Abishaa Ruban</cp:lastModifiedBy>
  <cp:revision>2</cp:revision>
  <dcterms:created xsi:type="dcterms:W3CDTF">2026-10-08T15:01:54Z</dcterms:created>
  <dcterms:modified xsi:type="dcterms:W3CDTF">2026-10-08T15:09:56Z</dcterms:modified>
</cp:coreProperties>
</file>